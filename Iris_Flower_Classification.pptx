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291" autoAdjust="0"/>
  </p:normalViewPr>
  <p:slideViewPr>
    <p:cSldViewPr snapToGrid="0" snapToObjects="1">
      <p:cViewPr varScale="1">
        <p:scale>
          <a:sx n="72" d="100"/>
          <a:sy n="72" d="100"/>
        </p:scale>
        <p:origin x="6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E8A33D"/>
              </a:solidFill>
            </c:spPr>
            <c:extLst>
              <c:ext xmlns:c16="http://schemas.microsoft.com/office/drawing/2014/chart" uri="{C3380CC4-5D6E-409C-BE32-E72D297353CC}">
                <c16:uniqueId val="{00000001-CE12-4363-99B7-F0813A2D1D27}"/>
              </c:ext>
            </c:extLst>
          </c:dPt>
          <c:dPt>
            <c:idx val="1"/>
            <c:invertIfNegative val="1"/>
            <c:bubble3D val="0"/>
            <c:spPr>
              <a:solidFill>
                <a:srgbClr val="5B2C6F"/>
              </a:solidFill>
            </c:spPr>
            <c:extLst>
              <c:ext xmlns:c16="http://schemas.microsoft.com/office/drawing/2014/chart" uri="{C3380CC4-5D6E-409C-BE32-E72D297353CC}">
                <c16:uniqueId val="{00000003-CE12-4363-99B7-F0813A2D1D27}"/>
              </c:ext>
            </c:extLst>
          </c:dPt>
          <c:dPt>
            <c:idx val="2"/>
            <c:invertIfNegative val="1"/>
            <c:bubble3D val="0"/>
            <c:spPr>
              <a:solidFill>
                <a:srgbClr val="5B2C6F"/>
              </a:solidFill>
            </c:spPr>
            <c:extLst>
              <c:ext xmlns:c16="http://schemas.microsoft.com/office/drawing/2014/chart" uri="{C3380CC4-5D6E-409C-BE32-E72D297353CC}">
                <c16:uniqueId val="{00000005-CE12-4363-99B7-F0813A2D1D27}"/>
              </c:ext>
            </c:extLst>
          </c:dPt>
          <c:dPt>
            <c:idx val="3"/>
            <c:invertIfNegative val="1"/>
            <c:bubble3D val="0"/>
            <c:spPr>
              <a:solidFill>
                <a:srgbClr val="5B2C6F"/>
              </a:solidFill>
            </c:spPr>
            <c:extLst>
              <c:ext xmlns:c16="http://schemas.microsoft.com/office/drawing/2014/chart" uri="{C3380CC4-5D6E-409C-BE32-E72D297353CC}">
                <c16:uniqueId val="{00000007-CE12-4363-99B7-F0813A2D1D27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2D1B3D"/>
                    </a:solidFill>
                    <a:latin typeface="Calibri"/>
                  </a:defRPr>
                </a:pPr>
                <a:endParaRPr lang="en-PK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Linear SVM</c:v>
                </c:pt>
                <c:pt idx="1">
                  <c:v>Logistic Regression</c:v>
                </c:pt>
                <c:pt idx="2">
                  <c:v>Decision Tree</c:v>
                </c:pt>
                <c:pt idx="3">
                  <c:v>Soft Voting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93.33</c:v>
                </c:pt>
                <c:pt idx="2">
                  <c:v>93.33</c:v>
                </c:pt>
                <c:pt idx="3">
                  <c:v>93.33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E12-4363-99B7-F0813A2D1D2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D8CFE0"/>
            </a:solidFill>
          </a:ln>
        </c:spPr>
        <c:txPr>
          <a:bodyPr/>
          <a:lstStyle/>
          <a:p>
            <a:pPr>
              <a:defRPr sz="1100" b="1">
                <a:solidFill>
                  <a:srgbClr val="2D1B3D"/>
                </a:solidFill>
              </a:defRPr>
            </a:pPr>
            <a:endParaRPr lang="en-PK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E7E0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5C7E"/>
                </a:solidFill>
              </a:defRPr>
            </a:pPr>
            <a:endParaRPr lang="en-PK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0209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235440" y="4572000"/>
            <a:ext cx="2743200" cy="2743200"/>
          </a:xfrm>
          <a:prstGeom prst="ellipse">
            <a:avLst/>
          </a:prstGeom>
          <a:solidFill>
            <a:srgbClr val="5B2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195560" y="4572000"/>
            <a:ext cx="1828800" cy="1828800"/>
          </a:xfrm>
          <a:prstGeom prst="ellipse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995660" y="5326380"/>
            <a:ext cx="960120" cy="96012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180">
                <a:solidFill>
                  <a:srgbClr val="E8A33D"/>
                </a:solidFill>
                <a:latin typeface="Calibri"/>
              </a:rPr>
              <a:t>MULTI-CLASS CLASSIFICATION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102412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Iris Flower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D8C7E8"/>
                </a:solidFill>
                <a:latin typeface="Calibri"/>
              </a:rPr>
              <a:t>A Multi-Class Supervised Learning Approach with Scikit-Learn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5B2C6F"/>
                </a:solidFill>
                <a:latin typeface="Cambria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17320"/>
            <a:ext cx="60350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600"/>
              </a:spcAft>
            </a:pPr>
            <a:r>
              <a:rPr sz="1250" b="1" i="0">
                <a:solidFill>
                  <a:srgbClr val="5B2C6F"/>
                </a:solidFill>
                <a:latin typeface="Calibri"/>
              </a:rPr>
              <a:t>●  </a:t>
            </a:r>
            <a:r>
              <a:rPr sz="1450" b="0" i="0">
                <a:solidFill>
                  <a:srgbClr val="2D1B3D"/>
                </a:solidFill>
                <a:latin typeface="Calibri"/>
              </a:rPr>
              <a:t>Domain: multi-class supervised classification using classical, interpretable ML algorithms.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</a:pPr>
            <a:r>
              <a:rPr sz="1250" b="1" i="0">
                <a:solidFill>
                  <a:srgbClr val="5B2C6F"/>
                </a:solidFill>
                <a:latin typeface="Calibri"/>
              </a:rPr>
              <a:t>●  </a:t>
            </a:r>
            <a:r>
              <a:rPr sz="1450" b="0" i="0">
                <a:solidFill>
                  <a:srgbClr val="2D1B3D"/>
                </a:solidFill>
                <a:latin typeface="Calibri"/>
              </a:rPr>
              <a:t>Objective: classify Iris flowers as Setosa, Versicolor, or Virginica from sepal and petal measurements.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</a:pPr>
            <a:r>
              <a:rPr sz="1250" b="1" i="0">
                <a:solidFill>
                  <a:srgbClr val="5B2C6F"/>
                </a:solidFill>
                <a:latin typeface="Calibri"/>
              </a:rPr>
              <a:t>●  </a:t>
            </a:r>
            <a:r>
              <a:rPr sz="1450" b="0" i="0">
                <a:solidFill>
                  <a:srgbClr val="2D1B3D"/>
                </a:solidFill>
                <a:latin typeface="Calibri"/>
              </a:rPr>
              <a:t>Dataset: scikit-learn's built-in Iris dataset — a clean, balanced benchmark for classification.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0" y="1417320"/>
            <a:ext cx="4828032" cy="987552"/>
          </a:xfrm>
          <a:prstGeom prst="roundRect">
            <a:avLst>
              <a:gd name="adj" fmla="val 18000"/>
            </a:avLst>
          </a:prstGeom>
          <a:solidFill>
            <a:srgbClr val="F4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0" y="1417320"/>
            <a:ext cx="1417320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 i="0">
                <a:solidFill>
                  <a:srgbClr val="5B2C6F"/>
                </a:solidFill>
                <a:latin typeface="Cambria"/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63624"/>
            <a:ext cx="2971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i="0">
                <a:solidFill>
                  <a:srgbClr val="2D1B3D"/>
                </a:solidFill>
                <a:latin typeface="Calibri"/>
              </a:rPr>
              <a:t>Samples</a:t>
            </a:r>
          </a:p>
          <a:p>
            <a:pPr>
              <a:spcBef>
                <a:spcPts val="200"/>
              </a:spcBef>
            </a:pPr>
            <a:r>
              <a:rPr sz="1100" b="0" i="0">
                <a:solidFill>
                  <a:srgbClr val="6E5C7E"/>
                </a:solidFill>
                <a:latin typeface="Calibri"/>
              </a:rPr>
              <a:t>Balanced across all 3 species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2569464"/>
            <a:ext cx="4828032" cy="987552"/>
          </a:xfrm>
          <a:prstGeom prst="roundRect">
            <a:avLst>
              <a:gd name="adj" fmla="val 18000"/>
            </a:avLst>
          </a:prstGeom>
          <a:solidFill>
            <a:srgbClr val="F4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0" y="2569464"/>
            <a:ext cx="1417320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 i="0">
                <a:solidFill>
                  <a:srgbClr val="5B2C6F"/>
                </a:solidFill>
                <a:latin typeface="Cambria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715768"/>
            <a:ext cx="2971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i="0">
                <a:solidFill>
                  <a:srgbClr val="2D1B3D"/>
                </a:solidFill>
                <a:latin typeface="Calibri"/>
              </a:rPr>
              <a:t>Features</a:t>
            </a:r>
          </a:p>
          <a:p>
            <a:pPr>
              <a:spcBef>
                <a:spcPts val="200"/>
              </a:spcBef>
            </a:pPr>
            <a:r>
              <a:rPr sz="1100" b="0" i="0">
                <a:solidFill>
                  <a:srgbClr val="6E5C7E"/>
                </a:solidFill>
                <a:latin typeface="Calibri"/>
              </a:rPr>
              <a:t>Sepal &amp; petal length / width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3721608"/>
            <a:ext cx="4828032" cy="987552"/>
          </a:xfrm>
          <a:prstGeom prst="roundRect">
            <a:avLst>
              <a:gd name="adj" fmla="val 18000"/>
            </a:avLst>
          </a:prstGeom>
          <a:solidFill>
            <a:srgbClr val="F4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0" y="3721608"/>
            <a:ext cx="1417320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 i="0">
                <a:solidFill>
                  <a:srgbClr val="5B2C6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867912"/>
            <a:ext cx="2971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i="0">
                <a:solidFill>
                  <a:srgbClr val="2D1B3D"/>
                </a:solidFill>
                <a:latin typeface="Calibri"/>
              </a:rPr>
              <a:t>Species</a:t>
            </a:r>
          </a:p>
          <a:p>
            <a:pPr>
              <a:spcBef>
                <a:spcPts val="200"/>
              </a:spcBef>
            </a:pPr>
            <a:r>
              <a:rPr sz="1100" b="0" i="0">
                <a:solidFill>
                  <a:srgbClr val="6E5C7E"/>
                </a:solidFill>
                <a:latin typeface="Calibri"/>
              </a:rPr>
              <a:t>Setosa · Versicolor · Virginica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3892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5B2C6F"/>
                </a:solidFill>
                <a:latin typeface="Calibri"/>
              </a:rPr>
              <a:t>Tech Stack: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81328" y="5074920"/>
            <a:ext cx="848868" cy="365760"/>
          </a:xfrm>
          <a:prstGeom prst="roundRect">
            <a:avLst>
              <a:gd name="adj" fmla="val 50000"/>
            </a:avLst>
          </a:prstGeom>
          <a:solidFill>
            <a:srgbClr val="ED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i="0">
                <a:solidFill>
                  <a:srgbClr val="5B2C6F"/>
                </a:solidFill>
                <a:latin typeface="Calibri"/>
              </a:rPr>
              <a:t>Python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58212" y="5074920"/>
            <a:ext cx="848868" cy="365760"/>
          </a:xfrm>
          <a:prstGeom prst="roundRect">
            <a:avLst>
              <a:gd name="adj" fmla="val 50000"/>
            </a:avLst>
          </a:prstGeom>
          <a:solidFill>
            <a:srgbClr val="ED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i="0">
                <a:solidFill>
                  <a:srgbClr val="5B2C6F"/>
                </a:solidFill>
                <a:latin typeface="Calibri"/>
              </a:rPr>
              <a:t>Pandas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35096" y="5074920"/>
            <a:ext cx="762254" cy="365760"/>
          </a:xfrm>
          <a:prstGeom prst="roundRect">
            <a:avLst>
              <a:gd name="adj" fmla="val 50000"/>
            </a:avLst>
          </a:prstGeom>
          <a:solidFill>
            <a:srgbClr val="ED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i="0">
                <a:solidFill>
                  <a:srgbClr val="5B2C6F"/>
                </a:solidFill>
                <a:latin typeface="Calibri"/>
              </a:rPr>
              <a:t>NumPy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5366" y="5074920"/>
            <a:ext cx="1368552" cy="365760"/>
          </a:xfrm>
          <a:prstGeom prst="roundRect">
            <a:avLst>
              <a:gd name="adj" fmla="val 50000"/>
            </a:avLst>
          </a:prstGeom>
          <a:solidFill>
            <a:srgbClr val="ED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i="0">
                <a:solidFill>
                  <a:srgbClr val="5B2C6F"/>
                </a:solidFill>
                <a:latin typeface="Calibri"/>
              </a:rPr>
              <a:t>Scikit-Learn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21934" y="5074920"/>
            <a:ext cx="1195324" cy="365760"/>
          </a:xfrm>
          <a:prstGeom prst="roundRect">
            <a:avLst>
              <a:gd name="adj" fmla="val 50000"/>
            </a:avLst>
          </a:prstGeom>
          <a:solidFill>
            <a:srgbClr val="ED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i="0">
                <a:solidFill>
                  <a:srgbClr val="5B2C6F"/>
                </a:solidFill>
                <a:latin typeface="Calibri"/>
              </a:rPr>
              <a:t>Matplotlib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45274" y="5074920"/>
            <a:ext cx="935482" cy="365760"/>
          </a:xfrm>
          <a:prstGeom prst="roundRect">
            <a:avLst>
              <a:gd name="adj" fmla="val 50000"/>
            </a:avLst>
          </a:prstGeom>
          <a:solidFill>
            <a:srgbClr val="ED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i="0">
                <a:solidFill>
                  <a:srgbClr val="5B2C6F"/>
                </a:solidFill>
                <a:latin typeface="Calibri"/>
              </a:rPr>
              <a:t>Seaborn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B8ACC4"/>
                </a:solidFill>
                <a:latin typeface="Calibri"/>
              </a:rPr>
              <a:t>Iris Flower Classification with Machine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5566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B8ACC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5B2C6F"/>
                </a:solidFill>
                <a:latin typeface="Cambria"/>
              </a:rPr>
              <a:t>Methodology &amp;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1">
                <a:solidFill>
                  <a:srgbClr val="6E5C7E"/>
                </a:solidFill>
                <a:latin typeface="Calibri"/>
              </a:rPr>
              <a:t>A five-stage pipeline from raw data to a consensus prediction.</a:t>
            </a:r>
          </a:p>
        </p:txBody>
      </p:sp>
      <p:sp>
        <p:nvSpPr>
          <p:cNvPr id="4" name="Oval 3"/>
          <p:cNvSpPr/>
          <p:nvPr/>
        </p:nvSpPr>
        <p:spPr>
          <a:xfrm>
            <a:off x="1019555" y="2880360"/>
            <a:ext cx="960120" cy="960120"/>
          </a:xfrm>
          <a:prstGeom prst="ellipse">
            <a:avLst/>
          </a:prstGeom>
          <a:solidFill>
            <a:srgbClr val="5B2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880360"/>
            <a:ext cx="2084831" cy="9601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208483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2D1B3D"/>
                </a:solidFill>
                <a:latin typeface="Cambria"/>
              </a:rPr>
              <a:t>EDA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4462272"/>
            <a:ext cx="1938527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E5C7E"/>
                </a:solidFill>
                <a:latin typeface="Calibri"/>
              </a:rPr>
              <a:t>Pairplot visualization of sepal &amp; petal dimensions</a:t>
            </a:r>
          </a:p>
        </p:txBody>
      </p:sp>
      <p:sp>
        <p:nvSpPr>
          <p:cNvPr id="8" name="Chevron 7"/>
          <p:cNvSpPr/>
          <p:nvPr/>
        </p:nvSpPr>
        <p:spPr>
          <a:xfrm>
            <a:off x="2523743" y="3241548"/>
            <a:ext cx="173736" cy="125089"/>
          </a:xfrm>
          <a:prstGeom prst="chevron">
            <a:avLst/>
          </a:prstGeom>
          <a:solidFill>
            <a:srgbClr val="C9B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241546" y="2880360"/>
            <a:ext cx="960120" cy="960120"/>
          </a:xfrm>
          <a:prstGeom prst="ellipse">
            <a:avLst/>
          </a:prstGeom>
          <a:solidFill>
            <a:srgbClr val="5B2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79191" y="2880360"/>
            <a:ext cx="2084831" cy="9601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9191" y="4023360"/>
            <a:ext cx="208483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2D1B3D"/>
                </a:solidFill>
                <a:latin typeface="Cambria"/>
              </a:rPr>
              <a:t>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52343" y="4462272"/>
            <a:ext cx="1938527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E5C7E"/>
                </a:solidFill>
                <a:latin typeface="Calibri"/>
              </a:rPr>
              <a:t>Stratified 80/20 split + StandardScaler normalization</a:t>
            </a:r>
          </a:p>
        </p:txBody>
      </p:sp>
      <p:sp>
        <p:nvSpPr>
          <p:cNvPr id="13" name="Chevron 12"/>
          <p:cNvSpPr/>
          <p:nvPr/>
        </p:nvSpPr>
        <p:spPr>
          <a:xfrm>
            <a:off x="4745734" y="3241548"/>
            <a:ext cx="173736" cy="125089"/>
          </a:xfrm>
          <a:prstGeom prst="chevron">
            <a:avLst/>
          </a:prstGeom>
          <a:solidFill>
            <a:srgbClr val="C9B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463537" y="2880360"/>
            <a:ext cx="960120" cy="960120"/>
          </a:xfrm>
          <a:prstGeom prst="ellipse">
            <a:avLst/>
          </a:prstGeom>
          <a:solidFill>
            <a:srgbClr val="5B2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01182" y="2880360"/>
            <a:ext cx="2084831" cy="9601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01182" y="4023360"/>
            <a:ext cx="208483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2D1B3D"/>
                </a:solidFill>
                <a:latin typeface="Cambria"/>
              </a:rPr>
              <a:t>Benchmarking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74334" y="4462272"/>
            <a:ext cx="1938527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E5C7E"/>
                </a:solidFill>
                <a:latin typeface="Calibri"/>
              </a:rPr>
              <a:t>SVM, Logistic Regression, Decision Tree, Random Forest</a:t>
            </a:r>
          </a:p>
        </p:txBody>
      </p:sp>
      <p:sp>
        <p:nvSpPr>
          <p:cNvPr id="18" name="Chevron 17"/>
          <p:cNvSpPr/>
          <p:nvPr/>
        </p:nvSpPr>
        <p:spPr>
          <a:xfrm>
            <a:off x="6967725" y="3241548"/>
            <a:ext cx="173736" cy="125089"/>
          </a:xfrm>
          <a:prstGeom prst="chevron">
            <a:avLst/>
          </a:prstGeom>
          <a:solidFill>
            <a:srgbClr val="C9B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685528" y="2880360"/>
            <a:ext cx="960120" cy="960120"/>
          </a:xfrm>
          <a:prstGeom prst="ellipse">
            <a:avLst/>
          </a:prstGeom>
          <a:solidFill>
            <a:srgbClr val="5B2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23173" y="2880360"/>
            <a:ext cx="2084831" cy="9601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23173" y="4023360"/>
            <a:ext cx="208483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2D1B3D"/>
                </a:solidFill>
                <a:latin typeface="Cambria"/>
              </a:rPr>
              <a:t>Ensemble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96325" y="4462272"/>
            <a:ext cx="1938527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E5C7E"/>
                </a:solidFill>
                <a:latin typeface="Calibri"/>
              </a:rPr>
              <a:t>Soft &amp; Hard Voting Classifiers combine model predictions</a:t>
            </a:r>
          </a:p>
        </p:txBody>
      </p:sp>
      <p:sp>
        <p:nvSpPr>
          <p:cNvPr id="23" name="Chevron 22"/>
          <p:cNvSpPr/>
          <p:nvPr/>
        </p:nvSpPr>
        <p:spPr>
          <a:xfrm>
            <a:off x="9189716" y="3241548"/>
            <a:ext cx="173736" cy="125089"/>
          </a:xfrm>
          <a:prstGeom prst="chevron">
            <a:avLst/>
          </a:prstGeom>
          <a:solidFill>
            <a:srgbClr val="C9B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907519" y="2880360"/>
            <a:ext cx="960120" cy="96012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45164" y="2880360"/>
            <a:ext cx="2084831" cy="9601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4" y="4023360"/>
            <a:ext cx="208483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2D1B3D"/>
                </a:solidFill>
                <a:latin typeface="Cambria"/>
              </a:rPr>
              <a:t>Inference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16" y="4462272"/>
            <a:ext cx="1938527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E5C7E"/>
                </a:solidFill>
                <a:latin typeface="Calibri"/>
              </a:rPr>
              <a:t>Test-sample predictions compared across all models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B8ACC4"/>
                </a:solidFill>
                <a:latin typeface="Calibri"/>
              </a:rPr>
              <a:t>Iris Flower Classification with Machine Learning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5566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B8ACC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5B2C6F"/>
                </a:solidFill>
                <a:latin typeface="Cambria"/>
              </a:rPr>
              <a:t>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17320"/>
            <a:ext cx="43434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1200" b="1" i="0">
                <a:solidFill>
                  <a:srgbClr val="5B2C6F"/>
                </a:solidFill>
                <a:latin typeface="Calibri"/>
              </a:rPr>
              <a:t>●  </a:t>
            </a:r>
            <a:r>
              <a:rPr sz="1400" b="0" i="0">
                <a:solidFill>
                  <a:srgbClr val="2D1B3D"/>
                </a:solidFill>
                <a:latin typeface="Calibri"/>
              </a:rPr>
              <a:t>Petal length and width provide the strongest separation between species.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1200" b="1" i="0">
                <a:solidFill>
                  <a:srgbClr val="5B2C6F"/>
                </a:solidFill>
                <a:latin typeface="Calibri"/>
              </a:rPr>
              <a:t>●  </a:t>
            </a:r>
            <a:r>
              <a:rPr sz="1400" b="0" i="0">
                <a:solidFill>
                  <a:srgbClr val="2D1B3D"/>
                </a:solidFill>
                <a:latin typeface="Calibri"/>
              </a:rPr>
              <a:t>Setosa is linearly separable from Versicolor and Virginica across every feature pair.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1200" b="1" i="0">
                <a:solidFill>
                  <a:srgbClr val="5B2C6F"/>
                </a:solidFill>
                <a:latin typeface="Calibri"/>
              </a:rPr>
              <a:t>●  </a:t>
            </a:r>
            <a:r>
              <a:rPr sz="1400" b="0" i="0">
                <a:solidFill>
                  <a:srgbClr val="2D1B3D"/>
                </a:solidFill>
                <a:latin typeface="Calibri"/>
              </a:rPr>
              <a:t>Versicolor and Virginica overlap slightly in petal dimensions — motivating margin-based classifiers such as SVM.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80644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6E5C7E"/>
                </a:solidFill>
                <a:latin typeface="Calibri"/>
              </a:rPr>
              <a:t>Pairplot generated from all 150 samples across the 4 features.</a:t>
            </a:r>
          </a:p>
        </p:txBody>
      </p:sp>
      <p:pic>
        <p:nvPicPr>
          <p:cNvPr id="5" name="Picture 4" descr="eda_pair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447" y="1234440"/>
            <a:ext cx="6145417" cy="5166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B8ACC4"/>
                </a:solidFill>
                <a:latin typeface="Calibri"/>
              </a:rPr>
              <a:t>Iris Flower Classification with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B8ACC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5B2C6F"/>
                </a:solidFill>
                <a:latin typeface="Cambria"/>
              </a:rPr>
              <a:t>Model Benchmarking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D1B3D"/>
                </a:solidFill>
                <a:latin typeface="Calibri"/>
              </a:rPr>
              <a:t>Test-Set Accuracy by Model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64592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680960" y="1645920"/>
            <a:ext cx="4050791" cy="4206240"/>
          </a:xfrm>
          <a:prstGeom prst="roundRect">
            <a:avLst>
              <a:gd name="adj" fmla="val 12000"/>
            </a:avLst>
          </a:prstGeom>
          <a:solidFill>
            <a:srgbClr val="F4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80960" y="1965960"/>
            <a:ext cx="405079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 spc="140">
                <a:solidFill>
                  <a:srgbClr val="E8A33D"/>
                </a:solidFill>
                <a:latin typeface="Calibri"/>
              </a:rPr>
              <a:t>BEST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2331720"/>
            <a:ext cx="4050791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600" b="1" i="0">
                <a:solidFill>
                  <a:srgbClr val="5B2C6F"/>
                </a:solidFill>
                <a:latin typeface="Cambria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3611880"/>
            <a:ext cx="3319271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2D1B3D"/>
                </a:solidFill>
                <a:latin typeface="Calibri"/>
              </a:rPr>
              <a:t>Linear SVM — zero misclassifications on the held-out test 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526280"/>
            <a:ext cx="3319271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1">
                <a:solidFill>
                  <a:srgbClr val="6E5C7E"/>
                </a:solidFill>
                <a:latin typeface="Calibri"/>
              </a:rPr>
              <a:t>Standardized features + a maximum-margin hyperplane cleanly separated all three species.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893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6E5C7E"/>
                </a:solidFill>
                <a:latin typeface="Calibri"/>
              </a:rPr>
              <a:t>Evaluated on a stratified 20% hold-out test set (30 samples) after StandardScaler normalization.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B8ACC4"/>
                </a:solidFill>
                <a:latin typeface="Calibri"/>
              </a:rPr>
              <a:t>Iris Flower Classification with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5566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B8ACC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5B2C6F"/>
                </a:solidFill>
                <a:latin typeface="Cambria"/>
              </a:rPr>
              <a:t>Ensemble Learning &amp; Key Challenge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25880"/>
            <a:ext cx="5413248" cy="1828800"/>
          </a:xfrm>
          <a:prstGeom prst="roundRect">
            <a:avLst>
              <a:gd name="adj" fmla="val 10000"/>
            </a:avLst>
          </a:prstGeom>
          <a:solidFill>
            <a:srgbClr val="F4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08660" y="1531620"/>
            <a:ext cx="502920" cy="502920"/>
          </a:xfrm>
          <a:prstGeom prst="ellipse">
            <a:avLst/>
          </a:prstGeom>
          <a:solidFill>
            <a:srgbClr val="5B2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8660" y="1531620"/>
            <a:ext cx="50292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600200"/>
            <a:ext cx="40416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2D1B3D"/>
                </a:solidFill>
                <a:latin typeface="Cambria"/>
              </a:rPr>
              <a:t>Soft Voting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477316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5C7E"/>
                </a:solidFill>
                <a:latin typeface="Calibri"/>
              </a:rPr>
              <a:t>Averages predicted class probabilities across all base models — SVM, Logistic Regression, Decision Tree, Random Forest — and selects the class with the highest combined confidence.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44184" y="1325880"/>
            <a:ext cx="5413248" cy="1828800"/>
          </a:xfrm>
          <a:prstGeom prst="roundRect">
            <a:avLst>
              <a:gd name="adj" fmla="val 10000"/>
            </a:avLst>
          </a:prstGeom>
          <a:solidFill>
            <a:srgbClr val="F4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295644" y="1531620"/>
            <a:ext cx="502920" cy="502920"/>
          </a:xfrm>
          <a:prstGeom prst="ellipse">
            <a:avLst/>
          </a:prstGeom>
          <a:solidFill>
            <a:srgbClr val="5B2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95644" y="1531620"/>
            <a:ext cx="50292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87184" y="1600200"/>
            <a:ext cx="40416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2D1B3D"/>
                </a:solidFill>
                <a:latin typeface="Cambria"/>
              </a:rPr>
              <a:t>Hard Voting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2194560"/>
            <a:ext cx="477316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5C7E"/>
                </a:solidFill>
                <a:latin typeface="Calibri"/>
              </a:rPr>
              <a:t>Each base model casts a single vote for its predicted class; the majority class across all models becomes the final ensemble prediction.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20440"/>
            <a:ext cx="5120640" cy="2148840"/>
          </a:xfrm>
          <a:prstGeom prst="roundRect">
            <a:avLst>
              <a:gd name="adj" fmla="val 10000"/>
            </a:avLst>
          </a:prstGeom>
          <a:solidFill>
            <a:srgbClr val="F4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776472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140">
                <a:solidFill>
                  <a:srgbClr val="E8A33D"/>
                </a:solidFill>
                <a:latin typeface="Calibri"/>
              </a:rPr>
              <a:t>CHALLENGE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60520"/>
            <a:ext cx="44805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D1B3D"/>
                </a:solidFill>
                <a:latin typeface="Calibri"/>
              </a:rPr>
              <a:t>Versicolor and Virginica show non-linear, overlapping distributions in raw petal measurements — difficult to separate with a simple linear boundary.</a:t>
            </a:r>
          </a:p>
        </p:txBody>
      </p:sp>
      <p:sp>
        <p:nvSpPr>
          <p:cNvPr id="16" name="Chevron 15"/>
          <p:cNvSpPr/>
          <p:nvPr/>
        </p:nvSpPr>
        <p:spPr>
          <a:xfrm>
            <a:off x="5742432" y="4448556"/>
            <a:ext cx="502920" cy="362102"/>
          </a:xfrm>
          <a:prstGeom prst="chevron">
            <a:avLst/>
          </a:prstGeom>
          <a:solidFill>
            <a:srgbClr val="5B2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73952" y="3520440"/>
            <a:ext cx="5120640" cy="2148840"/>
          </a:xfrm>
          <a:prstGeom prst="roundRect">
            <a:avLst>
              <a:gd name="adj" fmla="val 10000"/>
            </a:avLst>
          </a:prstGeom>
          <a:solidFill>
            <a:srgbClr val="F4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93992" y="3776472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140">
                <a:solidFill>
                  <a:srgbClr val="E8A33D"/>
                </a:solidFill>
                <a:latin typeface="Calibri"/>
              </a:rPr>
              <a:t>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3992" y="4160520"/>
            <a:ext cx="44805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D1B3D"/>
                </a:solidFill>
                <a:latin typeface="Calibri"/>
              </a:rPr>
              <a:t>Feature standardization (z = (x − μ) / σ) combined with a maximum-margin hyperplane (Linear SVM) cleanly resolved the overlap — achieving 100% test accuracy.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B8ACC4"/>
                </a:solidFill>
                <a:latin typeface="Calibri"/>
              </a:rPr>
              <a:t>Iris Flower Classification with Machine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5566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B8ACC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235440" y="4663440"/>
            <a:ext cx="2743200" cy="2743200"/>
          </a:xfrm>
          <a:prstGeom prst="ellipse">
            <a:avLst/>
          </a:prstGeom>
          <a:solidFill>
            <a:srgbClr val="5B2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195560" y="4663440"/>
            <a:ext cx="1828800" cy="1828800"/>
          </a:xfrm>
          <a:prstGeom prst="ellipse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995660" y="5417820"/>
            <a:ext cx="960120" cy="96012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667512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1250" b="1" i="0">
                <a:solidFill>
                  <a:srgbClr val="E8A33D"/>
                </a:solidFill>
                <a:latin typeface="Calibri"/>
              </a:rPr>
              <a:t>●  </a:t>
            </a:r>
            <a:r>
              <a:rPr sz="1450" b="0" i="0">
                <a:solidFill>
                  <a:srgbClr val="D8C7E8"/>
                </a:solidFill>
                <a:latin typeface="Calibri"/>
              </a:rPr>
              <a:t>Linear SVM achieved a perfect 100% test accuracy — zero misclassifications after feature standardization.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1250" b="1" i="0">
                <a:solidFill>
                  <a:srgbClr val="E8A33D"/>
                </a:solidFill>
                <a:latin typeface="Calibri"/>
              </a:rPr>
              <a:t>●  </a:t>
            </a:r>
            <a:r>
              <a:rPr sz="1450" b="0" i="0">
                <a:solidFill>
                  <a:srgbClr val="D8C7E8"/>
                </a:solidFill>
                <a:latin typeface="Calibri"/>
              </a:rPr>
              <a:t>Soft Voting matched the strongest individual models at 93.33%, confirming the robustness of ensemble consensus.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1250" b="1" i="0">
                <a:solidFill>
                  <a:srgbClr val="E8A33D"/>
                </a:solidFill>
                <a:latin typeface="Calibri"/>
              </a:rPr>
              <a:t>●  </a:t>
            </a:r>
            <a:r>
              <a:rPr sz="1450" b="0" i="0">
                <a:solidFill>
                  <a:srgbClr val="D8C7E8"/>
                </a:solidFill>
                <a:latin typeface="Calibri"/>
              </a:rPr>
              <a:t>Standardization plus a maximum-margin hyperplane fully resolved the Versicolor–Virginica overlap.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1250" b="1" i="0">
                <a:solidFill>
                  <a:srgbClr val="E8A33D"/>
                </a:solidFill>
                <a:latin typeface="Calibri"/>
              </a:rPr>
              <a:t>●  </a:t>
            </a:r>
            <a:r>
              <a:rPr sz="1450" b="0" i="0">
                <a:solidFill>
                  <a:srgbClr val="D8C7E8"/>
                </a:solidFill>
                <a:latin typeface="Calibri"/>
              </a:rPr>
              <a:t>The Iris dataset remains an excellent benchmark for validating a classical multi-class ML pipeline end-to-end.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2103120"/>
            <a:ext cx="34747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0" b="1" i="0">
                <a:solidFill>
                  <a:srgbClr val="E8A33D"/>
                </a:solidFill>
                <a:latin typeface="Cambria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3246120"/>
            <a:ext cx="34747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D8C7E8"/>
                </a:solidFill>
                <a:latin typeface="Calibri"/>
              </a:rPr>
              <a:t>Best Accuracy</a:t>
            </a:r>
          </a:p>
          <a:p>
            <a:pPr algn="ctr"/>
            <a:r>
              <a:rPr sz="1400" b="0" i="0">
                <a:solidFill>
                  <a:srgbClr val="D8C7E8"/>
                </a:solidFill>
                <a:latin typeface="Calibri"/>
              </a:rPr>
              <a:t>Linear SVM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722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9C8AAE"/>
                </a:solidFill>
                <a:latin typeface="Calibri"/>
              </a:rPr>
              <a:t>Thank you —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500</Words>
  <Application>Microsoft Office PowerPoint</Application>
  <PresentationFormat>Widescreen</PresentationFormat>
  <Paragraphs>82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Iris Flower Classification with Machine Learning</dc:title>
  <dc:subject>Multi-Class Supervised Classification</dc:subject>
  <dc:creator>Barira</dc:creator>
  <cp:keywords/>
  <dc:description>generated using python-pptx</dc:description>
  <cp:lastModifiedBy>smmblz</cp:lastModifiedBy>
  <cp:revision>2</cp:revision>
  <dcterms:created xsi:type="dcterms:W3CDTF">2013-01-27T09:14:16Z</dcterms:created>
  <dcterms:modified xsi:type="dcterms:W3CDTF">2026-09-08T19:52:24Z</dcterms:modified>
  <cp:category/>
</cp:coreProperties>
</file>